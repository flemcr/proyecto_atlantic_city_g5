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LUIS (0:15) Buenas tardes. Somos el equipo del caso Atlantic City y presentamos el avance del proyecto de capa de vista hasta lo visto en clase: el proceso modelado, los requerimientos y los tres modelos UML que pidió el profesor. [CLIC]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LUIS (0:25) Cuatro bloques en doce minutos. No vamos a leer diagramas: vamos a explicar qué decisión toma cada uno y qué regla del negocio representa. Si algo no está, es porque el Product Owner todavía no lo confirma, y lo diremos así. [CLIC]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LUIS (0:40) El problema no es falta de software: es que cada área tiene el suyo y ninguno conversa. Por eso la palabra clave del proyecto es unificada. Y ojo con el alcance: hoy demostramos con datos locales en el navegador; no afirmamos conexión con sistemas reales de Atlantic City porque no existe. [CLIC]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LUIS (0:50) Este es el proceso actual, no el ideal: por eso es AS IS. Señalo tres cosas: los carriles dicen quién interviene, el recorrido dice en qué orden y las compuertas dicen dónde hoy alguien decide a mano. Ese último punto es el que después se vuelve historia de usuario y caso de uso. [CLIC]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LUIS (0:35) El subproceso de segmentación es el corazón del caso: cuatro criterios que se consultan y una clasificación que hoy es manual. Que sea manual no es un defecto del modelo: es la regla acordada con el Product Owner mientras no se priorice automatizar. [CLIC]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CHRISTIAN (0:45) El backlog no es una lista de tareas: son trece necesidades con valor y criterio de aceptación. Los Sprints agrupan lo que cierra valor: primero saber quién es el cliente, después atenderlo, después evaluar ofertas y al final los complementos. La HU-13 lleva asterisco porque existe solo si el Product Owner la prioriza. [CLIC]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CHRISTIAN (0:45) Aquí respondo la duda típica: la historia dice por qué existe la función y el caso de uso dice cómo se usa observándola desde fuera. Por eso CU01 agrupa cuatro historias: en la pantalla real, identificar, registrar, actualizar y consultar ocurren en un mismo recorrido. La matriz de trazabilidad garantiza que no haya historia huérfana ni caso inventado. [CLIC]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CHRISTIAN (0:50) El diagrama se lee en tres capas: quiénes actúan, qué metas observables tienen y qué relaciones obligatorias existen. La elipse de automatización candidata está fuera del rectángulo a propósito: dibujarla dentro sería prometer algo que el Product Owner no ha priorizado. [CLIC]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CHRISTIAN (0:40) La plantilla no es burocracia: es el contrato que después se puede probar. El detalle que más nos gusta defender: cada mensaje MSJ del documento existe literalmente en el código, así que la especificación se puede verificar provocando la situación en el navegador. [CLIC]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SALOMÓN (0:50) Este es el caso más usado del recorrido y el que mejor muestra nuestras reglas. Paso 3: la incidencia es opcional y condicional; si se marca sin descripción, el sistema no guarda y explica por qué con el mensaje MSJ02. Y la postcondición es la regla RN01: la atención nunca se pierde por no tener incidencia o promoción. [CLIC]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SALOMÓN (0:40) El diagrama de secuencia es la tabla del caso vista en el tiempo. La cuarta línea de vida se llama registro local y no base de datos porque todavía no hay motor definido: nombrar lo que existe y no lo que suponemos. [CLIC]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SALOMÓN (0:45) Este alt concentra las dos reglas más sensibles del proyecto: con Aplica queda una constancia local y nada sale del sistema; con No aplica no se crea comunicación. Si el profesor pregunta por qué no hay envío automático, la respuesta es: porque ninguna integración está aprobada por el Product Owner. [CLIC]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SALOMÓN (0:35) Cerramos comportamiento con el patrón que se repite: identificar, validar, guardar, confirmar. Por eso los tres diagramas se leen igual de rápido. Y por eso no los juntamos en uno solo: cada caso merece su alt y sus excepciones propias. [CLIC]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DANIEL (0:50) Las clases no se inventaron: son las colecciones que ya guarda el prototipo. Cliente, Visita, Incidencia, Constancia, Promocion y Campana. La asociación entre Promocion y Campana es opcional a propósito: una promoción puede existir sin campaña, que es la regla RN05 vista como estructura. [CLIC]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DANIEL (0:40) Nuestra prueba de coherencia es simple: provocamos cada excepción en el navegador y buscamos su mensaje en el documento. Si coincide, modelo y código viven juntos; si no, se corrige en el mismo cambio. Así ningún diagrama envejece solo. [CLIC]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DANIEL (0:35) Estado honesto: lo enseñado en clase está cerrado y documentado; lo que sigue son dos artefactos de herramienta y las decisiones que solo el Product Owner puede tomar. Preferimos mostrar pendientes reales antes que dibujos que prometan de más. [CLIC]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DANIEL (0:20) Resumimos en una línea: el proyecto convierte información dispersa en historial unificado con reglas que se pueden verificar. Gracias y quedamos por las preguntas. [FIN]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7863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6DA4"/>
                </a:solidFill>
                <a:latin typeface="Calibri"/>
              </a:rPr>
              <a:t>ATLANTIC CITY</a:t>
            </a:r>
          </a:p>
          <a:p>
            <a:r>
              <a:rPr sz="3400" b="1" i="0">
                <a:solidFill>
                  <a:srgbClr val="1F3A5F"/>
                </a:solidFill>
                <a:latin typeface="Calibri"/>
              </a:rPr>
              <a:t>Desarrollo de un sistema de información para la gestión unificada de clientes</a:t>
            </a:r>
          </a:p>
          <a:p>
            <a:pPr>
              <a:spcBef>
                <a:spcPts val="1000"/>
              </a:spcBef>
            </a:pPr>
            <a:r>
              <a:rPr sz="1600" b="0" i="0">
                <a:solidFill>
                  <a:srgbClr val="555A60"/>
                </a:solidFill>
                <a:latin typeface="Calibri"/>
              </a:rPr>
              <a:t>Proyecto de Desarrollo de los Componentes de la Capa de Vista · Ciclo 2 · 2026</a:t>
            </a:r>
          </a:p>
          <a:p>
            <a:pPr>
              <a:spcBef>
                <a:spcPts val="1800"/>
              </a:spcBef>
            </a:pPr>
            <a:r>
              <a:rPr sz="1500" b="1" i="0">
                <a:solidFill>
                  <a:srgbClr val="202428"/>
                </a:solidFill>
                <a:latin typeface="Calibri"/>
              </a:rPr>
              <a:t>Daniel Asmat · Salomón Fernández · Christian Huapaya · Luis Coloma</a:t>
            </a:r>
          </a:p>
          <a:p>
            <a:r>
              <a:rPr sz="1350" b="0" i="0">
                <a:solidFill>
                  <a:srgbClr val="555A60"/>
                </a:solidFill>
                <a:latin typeface="Calibri"/>
              </a:rPr>
              <a:t>Product Owner: Víctor Andrade, docente del curso</a:t>
            </a:r>
          </a:p>
        </p:txBody>
      </p:sp>
      <p:pic>
        <p:nvPicPr>
          <p:cNvPr id="3" name="Picture 2" descr="logo_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554480"/>
            <a:ext cx="2743200" cy="14962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55A60"/>
                </a:solidFill>
                <a:latin typeface="Calibri"/>
              </a:rPr>
              <a:t>Avance presentado hasta lo trabajado en clase: procesos, requerimientos, casos de uso, secuencias y clases.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E6DA4"/>
                </a:solidFill>
                <a:latin typeface="Calibri"/>
              </a:rPr>
              <a:t>APERTURA</a:t>
            </a:r>
          </a:p>
          <a:p>
            <a:r>
              <a:rPr sz="3000" b="1" i="0">
                <a:solidFill>
                  <a:srgbClr val="1F3A5F"/>
                </a:solidFill>
                <a:latin typeface="Calibri"/>
              </a:rPr>
              <a:t>Qué vamos a mostrar y por qué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2011680" cy="381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555A60"/>
                </a:solidFill>
                <a:latin typeface="Calibri"/>
              </a:rPr>
              <a:t>Atlantic City · Capa de vista   |   Expositor 1 · Luis   | 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900" b="1" i="0">
                <a:solidFill>
                  <a:srgbClr val="202428"/>
                </a:solidFill>
                <a:latin typeface="Calibri"/>
              </a:rPr>
              <a:t>Proceso y método: </a:t>
            </a:r>
            <a:r>
              <a:rPr sz="1900" b="0" i="0">
                <a:solidFill>
                  <a:srgbClr val="202428"/>
                </a:solidFill>
                <a:latin typeface="Calibri"/>
              </a:rPr>
              <a:t>el problema real y el AS IS dibujado en Bizagi, con sus carriles y decisiones.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900" b="1" i="0">
                <a:solidFill>
                  <a:srgbClr val="202428"/>
                </a:solidFill>
                <a:latin typeface="Calibri"/>
              </a:rPr>
              <a:t>Requerimientos: </a:t>
            </a:r>
            <a:r>
              <a:rPr sz="1900" b="0" i="0">
                <a:solidFill>
                  <a:srgbClr val="202428"/>
                </a:solidFill>
                <a:latin typeface="Calibri"/>
              </a:rPr>
              <a:t>las 13 historias de usuario y el salto de historia a caso de uso.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900" b="1" i="0">
                <a:solidFill>
                  <a:srgbClr val="202428"/>
                </a:solidFill>
                <a:latin typeface="Calibri"/>
              </a:rPr>
              <a:t>Comportamiento: </a:t>
            </a:r>
            <a:r>
              <a:rPr sz="1900" b="0" i="0">
                <a:solidFill>
                  <a:srgbClr val="202428"/>
                </a:solidFill>
                <a:latin typeface="Calibri"/>
              </a:rPr>
              <a:t>casos de uso documentados con la plantilla del curso y sus diagramas de secuencia.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900" b="1" i="0">
                <a:solidFill>
                  <a:srgbClr val="202428"/>
                </a:solidFill>
                <a:latin typeface="Calibri"/>
              </a:rPr>
              <a:t>Estructura y estado: </a:t>
            </a:r>
            <a:r>
              <a:rPr sz="1900" b="0" i="0">
                <a:solidFill>
                  <a:srgbClr val="202428"/>
                </a:solidFill>
                <a:latin typeface="Calibri"/>
              </a:rPr>
              <a:t>diagrama de clases coherente con el código y pendientes reales del proyecto.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6DA4"/>
                </a:solidFill>
                <a:latin typeface="Calibri"/>
              </a:rPr>
              <a:t>Idea fuerza: cada bloque responde qué se hizo, por qué se hizo así y con qué herramienta.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E6DA4"/>
                </a:solidFill>
                <a:latin typeface="Calibri"/>
              </a:rPr>
              <a:t>CONTEXTO</a:t>
            </a:r>
          </a:p>
          <a:p>
            <a:r>
              <a:rPr sz="3000" b="1" i="0">
                <a:solidFill>
                  <a:srgbClr val="1F3A5F"/>
                </a:solidFill>
                <a:latin typeface="Calibri"/>
              </a:rPr>
              <a:t>El problema que origina todo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2011680" cy="381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555A60"/>
                </a:solidFill>
                <a:latin typeface="Calibri"/>
              </a:rPr>
              <a:t>Atlantic City · Capa de vista   |   Expositor 1 · Luis   | 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900" b="0" i="0">
                <a:solidFill>
                  <a:srgbClr val="202428"/>
                </a:solidFill>
                <a:latin typeface="Calibri"/>
              </a:rPr>
              <a:t>Información de clientes dispersa en aplicaciones que no se comunican: inscripción, promociones, membresías.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900" b="0" i="0">
                <a:solidFill>
                  <a:srgbClr val="202428"/>
                </a:solidFill>
                <a:latin typeface="Calibri"/>
              </a:rPr>
              <a:t>Consecuencias directas: duplicidad y retrabajo, historial inexistente, ofertas poco pertinentes.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900" b="0" i="0">
                <a:solidFill>
                  <a:srgbClr val="202428"/>
                </a:solidFill>
                <a:latin typeface="Calibri"/>
              </a:rPr>
              <a:t>Decisiones de marketing sin indicadores verificables ni periodo acordado.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F3A5F"/>
                </a:solidFill>
                <a:latin typeface="Calibri"/>
              </a:rPr>
              <a:t>Objetivo del sistema</a:t>
            </a:r>
          </a:p>
          <a:p>
            <a:r>
              <a:rPr sz="1800" b="0" i="0">
                <a:solidFill>
                  <a:srgbClr val="202428"/>
                </a:solidFill>
                <a:latin typeface="Calibri"/>
              </a:rPr>
              <a:t>Una fuente central del perfil, el historial y las interacciones que ordene la atención y apoye decisiones con datos.</a:t>
            </a:r>
          </a:p>
          <a:p>
            <a:pPr>
              <a:spcBef>
                <a:spcPts val="800"/>
              </a:spcBef>
            </a:pPr>
            <a:r>
              <a:rPr sz="1400" b="0" i="1">
                <a:solidFill>
                  <a:srgbClr val="555A60"/>
                </a:solidFill>
                <a:latin typeface="Calibri"/>
              </a:rPr>
              <a:t>Alcance de la etapa: capa de vista con datos de demostración locales; sin integración real ni envío de mensajes.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E6DA4"/>
                </a:solidFill>
                <a:latin typeface="Calibri"/>
              </a:rPr>
              <a:t>PROCESO AS IS</a:t>
            </a:r>
          </a:p>
          <a:p>
            <a:r>
              <a:rPr sz="3000" b="1" i="0">
                <a:solidFill>
                  <a:srgbClr val="1F3A5F"/>
                </a:solidFill>
                <a:latin typeface="Calibri"/>
              </a:rPr>
              <a:t>Cómo se trabaja hoy: el modelo Bizagi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2011680" cy="381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555A60"/>
                </a:solidFill>
                <a:latin typeface="Calibri"/>
              </a:rPr>
              <a:t>Atlantic City · Capa de vista   |   Expositor 1 · Luis   |   4</a:t>
            </a:r>
          </a:p>
        </p:txBody>
      </p:sp>
      <p:pic>
        <p:nvPicPr>
          <p:cNvPr id="5" name="Picture 4" descr="Atlantic_city_grupo_ci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949440" cy="26628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5544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500" b="0" i="0">
                <a:solidFill>
                  <a:srgbClr val="202428"/>
                </a:solidFill>
                <a:latin typeface="Calibri"/>
              </a:rPr>
              <a:t>Un pool y seis carriles: los mismos participantes del proceso real.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500" b="0" i="0">
                <a:solidFill>
                  <a:srgbClr val="202428"/>
                </a:solidFill>
                <a:latin typeface="Calibri"/>
              </a:rPr>
              <a:t>Recorrido: registrar → atender → segmentar → promocionar → reportar.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500" b="0" i="0">
                <a:solidFill>
                  <a:srgbClr val="202428"/>
                </a:solidFill>
                <a:latin typeface="Calibri"/>
              </a:rPr>
              <a:t>Las compuertas muestran lo que hoy es manual y condicionado.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E6DA4"/>
                </a:solidFill>
                <a:latin typeface="Calibri"/>
              </a:rPr>
              <a:t>PROCESO AS IS</a:t>
            </a:r>
          </a:p>
          <a:p>
            <a:r>
              <a:rPr sz="3000" b="1" i="0">
                <a:solidFill>
                  <a:srgbClr val="1F3A5F"/>
                </a:solidFill>
                <a:latin typeface="Calibri"/>
              </a:rPr>
              <a:t>Segmentación: el subproceso de los cuatro criterios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2011680" cy="381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555A60"/>
                </a:solidFill>
                <a:latin typeface="Calibri"/>
              </a:rPr>
              <a:t>Atlantic City · Capa de vista   |   Expositor 1 · Luis   |   5</a:t>
            </a:r>
          </a:p>
        </p:txBody>
      </p:sp>
      <p:pic>
        <p:nvPicPr>
          <p:cNvPr id="5" name="Picture 4" descr="SUBPROCE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852160" cy="18672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55448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600" b="1" i="0">
                <a:solidFill>
                  <a:srgbClr val="202428"/>
                </a:solidFill>
                <a:latin typeface="Calibri"/>
              </a:rPr>
              <a:t>Cuatro criterios: </a:t>
            </a:r>
            <a:r>
              <a:rPr sz="1600" b="0" i="0">
                <a:solidFill>
                  <a:srgbClr val="202428"/>
                </a:solidFill>
                <a:latin typeface="Calibri"/>
              </a:rPr>
              <a:t>frecuencia de visitas, nivel de gasto, preferencias de juegos e historial de promociones.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600" b="1" i="0">
                <a:solidFill>
                  <a:srgbClr val="202428"/>
                </a:solidFill>
                <a:latin typeface="Calibri"/>
              </a:rPr>
              <a:t>Clasificación manual: </a:t>
            </a:r>
            <a:r>
              <a:rPr sz="1600" b="0" i="0">
                <a:solidFill>
                  <a:srgbClr val="202428"/>
                </a:solidFill>
                <a:latin typeface="Calibri"/>
              </a:rPr>
              <a:t>hoy la etiqueta la pone una persona; el sistema no la calcula.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600" b="1" i="0">
                <a:solidFill>
                  <a:srgbClr val="202428"/>
                </a:solidFill>
                <a:latin typeface="Calibri"/>
              </a:rPr>
              <a:t>Puente con UML: </a:t>
            </a:r>
            <a:r>
              <a:rPr sz="1600" b="0" i="0">
                <a:solidFill>
                  <a:srgbClr val="202428"/>
                </a:solidFill>
                <a:latin typeface="Calibri"/>
              </a:rPr>
              <a:t>este subproceso alimenta HU-07, HU-08 y HU-09 y el caso CU03.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E6DA4"/>
                </a:solidFill>
                <a:latin typeface="Calibri"/>
              </a:rPr>
              <a:t>REQUERIMIENTOS</a:t>
            </a:r>
          </a:p>
          <a:p>
            <a:r>
              <a:rPr sz="3000" b="1" i="0">
                <a:solidFill>
                  <a:srgbClr val="1F3A5F"/>
                </a:solidFill>
                <a:latin typeface="Calibri"/>
              </a:rPr>
              <a:t>Scrum y backlog: trece historias, cuatro Sprints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2011680" cy="381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555A60"/>
                </a:solidFill>
                <a:latin typeface="Calibri"/>
              </a:rPr>
              <a:t>Atlantic City · Capa de vista   |   Expositor 2 · Christian   |  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7680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484632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Sprint</a:t>
                      </a:r>
                    </a:p>
                  </a:txBody>
                  <a:tcPr marL="73152" marR="73152" marT="27432" marB="27432" anchor="t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Objetivo de valor</a:t>
                      </a:r>
                    </a:p>
                  </a:txBody>
                  <a:tcPr marL="73152" marR="73152" marT="27432" marB="27432" anchor="t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Historias</a:t>
                      </a:r>
                    </a:p>
                  </a:txBody>
                  <a:tcPr marL="73152" marR="73152" marT="27432" marB="27432" anchor="t"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t"/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Perfiles: buscar, registrar, actualizar y consultar con historial</a:t>
                      </a:r>
                    </a:p>
                  </a:txBody>
                  <a:tcPr marL="73152" marR="73152" marT="27432" marB="27432" anchor="t"/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HU-01 a HU-04</a:t>
                      </a:r>
                    </a:p>
                  </a:txBody>
                  <a:tcPr marL="73152" marR="73152" marT="27432" marB="27432" anchor="t"/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Atención: visita o interacción y criterios de segmentación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HU-05, HU-07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t"/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Segmento y oferta: segmento, elegibilidad y constancia</a:t>
                      </a:r>
                    </a:p>
                  </a:txBody>
                  <a:tcPr marL="73152" marR="73152" marT="27432" marB="27432" anchor="t"/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HU-08, HU-09, HU-11</a:t>
                      </a:r>
                    </a:p>
                  </a:txBody>
                  <a:tcPr marL="73152" marR="73152" marT="27432" marB="27432" anchor="t"/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Complementos: incidencias, campañas, reportes y HU-13 si el PO prioriza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HU-06, HU-10, HU-12, HU-13*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20624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700" b="0" i="0">
                <a:solidFill>
                  <a:srgbClr val="202428"/>
                </a:solidFill>
                <a:latin typeface="Calibri"/>
              </a:rPr>
              <a:t>Equipo: el docente como Product Owner; cuatro Developers, uno de ellos Scrum Master.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700" b="0" i="0">
                <a:solidFill>
                  <a:srgbClr val="202428"/>
                </a:solidFill>
                <a:latin typeface="Calibri"/>
              </a:rPr>
              <a:t>Cada historia tiene criterio de aceptación comprobable, no deseos sueltos.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E6DA4"/>
                </a:solidFill>
                <a:latin typeface="Calibri"/>
              </a:rPr>
              <a:t>REQUERIMIENTOS</a:t>
            </a:r>
          </a:p>
          <a:p>
            <a:r>
              <a:rPr sz="3000" b="1" i="0">
                <a:solidFill>
                  <a:srgbClr val="1F3A5F"/>
                </a:solidFill>
                <a:latin typeface="Calibri"/>
              </a:rPr>
              <a:t>De historia de usuario a caso de uso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2011680" cy="381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555A60"/>
                </a:solidFill>
                <a:latin typeface="Calibri"/>
              </a:rPr>
              <a:t>Atlantic City · Capa de vista   |   Expositor 2 · Christian   | 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700" b="1" i="0">
                <a:solidFill>
                  <a:srgbClr val="202428"/>
                </a:solidFill>
                <a:latin typeface="Calibri"/>
              </a:rPr>
              <a:t>Historia de usuario: </a:t>
            </a:r>
            <a:r>
              <a:rPr sz="1700" b="0" i="0">
                <a:solidFill>
                  <a:srgbClr val="202428"/>
                </a:solidFill>
                <a:latin typeface="Calibri"/>
              </a:rPr>
              <a:t>necesidad con valor de negocio, escrita para el backlog: Como / Quiero / Para.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700" b="1" i="0">
                <a:solidFill>
                  <a:srgbClr val="202428"/>
                </a:solidFill>
                <a:latin typeface="Calibri"/>
              </a:rPr>
              <a:t>Caso de uso: </a:t>
            </a:r>
            <a:r>
              <a:rPr sz="1700" b="0" i="0">
                <a:solidFill>
                  <a:srgbClr val="202428"/>
                </a:solidFill>
                <a:latin typeface="Calibri"/>
              </a:rPr>
              <a:t>recorrido observable actor–sistema que realiza esa necesidad, con secuencia y excepciones.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700" b="1" i="0">
                <a:solidFill>
                  <a:srgbClr val="202428"/>
                </a:solidFill>
                <a:latin typeface="Calibri"/>
              </a:rPr>
              <a:t>Relación: </a:t>
            </a:r>
            <a:r>
              <a:rPr sz="1700" b="0" i="0">
                <a:solidFill>
                  <a:srgbClr val="202428"/>
                </a:solidFill>
                <a:latin typeface="Calibri"/>
              </a:rPr>
              <a:t>un caso de uso puede agrupar varias historias que cierran un mismo recorrido.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65760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5895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Caso de uso</a:t>
                      </a:r>
                    </a:p>
                  </a:txBody>
                  <a:tcPr marL="73152" marR="73152" marT="27432" marB="27432" anchor="t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Historias que realiza</a:t>
                      </a:r>
                    </a:p>
                  </a:txBody>
                  <a:tcPr marL="73152" marR="73152" marT="27432" marB="27432" anchor="t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428"/>
                          </a:solidFill>
                          <a:latin typeface="Calibri"/>
                        </a:rPr>
                        <a:t>CU01 Registrar cliente</a:t>
                      </a:r>
                    </a:p>
                  </a:txBody>
                  <a:tcPr marL="73152" marR="73152" marT="27432" marB="27432" anchor="t"/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428"/>
                          </a:solidFill>
                          <a:latin typeface="Calibri"/>
                        </a:rPr>
                        <a:t>HU-01 buscar · HU-02 registrar · HU-03 actualizar · HU-04 consultar</a:t>
                      </a:r>
                    </a:p>
                  </a:txBody>
                  <a:tcPr marL="73152" marR="73152" marT="27432" marB="27432" anchor="t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428"/>
                          </a:solidFill>
                          <a:latin typeface="Calibri"/>
                        </a:rPr>
                        <a:t>CU02 Registrar visita o interacción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428"/>
                          </a:solidFill>
                          <a:latin typeface="Calibri"/>
                        </a:rPr>
                        <a:t>HU-05 atención · HU-06 incidencia opcional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428"/>
                          </a:solidFill>
                          <a:latin typeface="Calibri"/>
                        </a:rPr>
                        <a:t>CU03 Evaluar si una promoción aplica</a:t>
                      </a:r>
                    </a:p>
                  </a:txBody>
                  <a:tcPr marL="73152" marR="73152" marT="27432" marB="27432" anchor="t"/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428"/>
                          </a:solidFill>
                          <a:latin typeface="Calibri"/>
                        </a:rPr>
                        <a:t>HU-07 criterios · HU-08 segmento · HU-09 elegibilidad · HU-10 campaña · HU-11 constancia</a:t>
                      </a:r>
                    </a:p>
                  </a:txBody>
                  <a:tcPr marL="73152" marR="73152" marT="27432" marB="27432" anchor="t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428"/>
                          </a:solidFill>
                          <a:latin typeface="Calibri"/>
                        </a:rPr>
                        <a:t>CU04 Consultar reporte verificable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428"/>
                          </a:solidFill>
                          <a:latin typeface="Calibri"/>
                        </a:rPr>
                        <a:t>HU-12 reporte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E6DA4"/>
                </a:solidFill>
                <a:latin typeface="Calibri"/>
              </a:rPr>
              <a:t>CASOS DE USO</a:t>
            </a:r>
          </a:p>
          <a:p>
            <a:r>
              <a:rPr sz="3000" b="1" i="0">
                <a:solidFill>
                  <a:srgbClr val="1F3A5F"/>
                </a:solidFill>
                <a:latin typeface="Calibri"/>
              </a:rPr>
              <a:t>El diagrama general y cómo leerlo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2011680" cy="381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555A60"/>
                </a:solidFill>
                <a:latin typeface="Calibri"/>
              </a:rPr>
              <a:t>Atlantic City · Capa de vista   |   Expositor 2 · Christian   |   8</a:t>
            </a:r>
          </a:p>
        </p:txBody>
      </p:sp>
      <p:pic>
        <p:nvPicPr>
          <p:cNvPr id="5" name="Picture 4" descr="Casos_de_u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858000" cy="4511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46304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450" b="0" i="0">
                <a:solidFill>
                  <a:srgbClr val="202428"/>
                </a:solidFill>
                <a:latin typeface="Calibri"/>
              </a:rPr>
              <a:t>Doce casos dentro del límite del sistema; HU-13 queda fuera hasta que el PO la priorice.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450" b="0" i="0">
                <a:solidFill>
                  <a:srgbClr val="202428"/>
                </a:solidFill>
                <a:latin typeface="Calibri"/>
              </a:rPr>
              <a:t>Actores ejecutores a la izquierda; Product Owner a la derecha.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450" b="0" i="0">
                <a:solidFill>
                  <a:srgbClr val="202428"/>
                </a:solidFill>
                <a:latin typeface="Calibri"/>
              </a:rPr>
              <a:t>«include»: evaluar promoción siempre consulta los criterios.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450" b="0" i="0">
                <a:solidFill>
                  <a:srgbClr val="202428"/>
                </a:solidFill>
                <a:latin typeface="Calibri"/>
              </a:rPr>
              <a:t>Nombres con verbo inicial: pauta del material del curso.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E6DA4"/>
                </a:solidFill>
                <a:latin typeface="Calibri"/>
              </a:rPr>
              <a:t>CASOS DE USO</a:t>
            </a:r>
          </a:p>
          <a:p>
            <a:r>
              <a:rPr sz="3000" b="1" i="0">
                <a:solidFill>
                  <a:srgbClr val="1F3A5F"/>
                </a:solidFill>
                <a:latin typeface="Calibri"/>
              </a:rPr>
              <a:t>Cómo se documenta cada caso: la plantilla del curso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2011680" cy="381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555A60"/>
                </a:solidFill>
                <a:latin typeface="Calibri"/>
              </a:rPr>
              <a:t>Atlantic City · Capa de vista   |   Expositor 2 · Christian   |   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69494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06240"/>
              </a:tblGrid>
              <a:tr h="51816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Campo</a:t>
                      </a:r>
                    </a:p>
                  </a:txBody>
                  <a:tcPr marL="73152" marR="73152" marT="27432" marB="27432" anchor="t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Qué declara</a:t>
                      </a:r>
                    </a:p>
                  </a:txBody>
                  <a:tcPr marL="73152" marR="73152" marT="27432" marB="27432" anchor="t">
                    <a:solidFill>
                      <a:srgbClr val="1F3A5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02428"/>
                          </a:solidFill>
                          <a:latin typeface="Calibri"/>
                        </a:rPr>
                        <a:t>Descripción y actores</a:t>
                      </a:r>
                    </a:p>
                  </a:txBody>
                  <a:tcPr marL="73152" marR="73152" marT="27432" marB="27432" anchor="t"/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02428"/>
                          </a:solidFill>
                          <a:latin typeface="Calibri"/>
                        </a:rPr>
                        <a:t>quién ejecuta, por qué y qué obtiene</a:t>
                      </a:r>
                    </a:p>
                  </a:txBody>
                  <a:tcPr marL="73152" marR="73152" marT="27432" marB="27432" anchor="t"/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02428"/>
                          </a:solidFill>
                          <a:latin typeface="Calibri"/>
                        </a:rPr>
                        <a:t>Pre y postcondiciones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02428"/>
                          </a:solidFill>
                          <a:latin typeface="Calibri"/>
                        </a:rPr>
                        <a:t>estado asumido antes y estado garantizado después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02428"/>
                          </a:solidFill>
                          <a:latin typeface="Calibri"/>
                        </a:rPr>
                        <a:t>Secuencia normal</a:t>
                      </a:r>
                    </a:p>
                  </a:txBody>
                  <a:tcPr marL="73152" marR="73152" marT="27432" marB="27432" anchor="t"/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02428"/>
                          </a:solidFill>
                          <a:latin typeface="Calibri"/>
                        </a:rPr>
                        <a:t>tabla # / Acción (actor) / Reacción (sistema), con alternativas ancladas al paso</a:t>
                      </a:r>
                    </a:p>
                  </a:txBody>
                  <a:tcPr marL="73152" marR="73152" marT="27432" marB="27432" anchor="t"/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02428"/>
                          </a:solidFill>
                          <a:latin typeface="Calibri"/>
                        </a:rPr>
                        <a:t>Excepciones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02428"/>
                          </a:solidFill>
                          <a:latin typeface="Calibri"/>
                        </a:rPr>
                        <a:t>situación previsible y reacción concreta del sistema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02428"/>
                          </a:solidFill>
                          <a:latin typeface="Calibri"/>
                        </a:rPr>
                        <a:t>Rendimiento, frecuencia, importancia, urgencia</a:t>
                      </a:r>
                    </a:p>
                  </a:txBody>
                  <a:tcPr marL="73152" marR="73152" marT="27432" marB="27432" anchor="t"/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02428"/>
                          </a:solidFill>
                          <a:latin typeface="Calibri"/>
                        </a:rPr>
                        <a:t>compromisos medibles o pendientes del PO</a:t>
                      </a:r>
                    </a:p>
                  </a:txBody>
                  <a:tcPr marL="73152" marR="73152" marT="27432" marB="27432"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63840" y="15544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500" b="1" i="0">
                <a:solidFill>
                  <a:srgbClr val="202428"/>
                </a:solidFill>
                <a:latin typeface="Calibri"/>
              </a:rPr>
              <a:t>Catálogos de sistema: </a:t>
            </a:r>
            <a:r>
              <a:rPr sz="1500" b="0" i="0">
                <a:solidFill>
                  <a:srgbClr val="202428"/>
                </a:solidFill>
                <a:latin typeface="Calibri"/>
              </a:rPr>
              <a:t>reglas RN, excepciones EXC y mensajes MSJ, una sola vez.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500" b="1" i="0">
                <a:solidFill>
                  <a:srgbClr val="202428"/>
                </a:solidFill>
                <a:latin typeface="Calibri"/>
              </a:rPr>
              <a:t>MSJ = código: </a:t>
            </a:r>
            <a:r>
              <a:rPr sz="1500" b="0" i="0">
                <a:solidFill>
                  <a:srgbClr val="202428"/>
                </a:solidFill>
                <a:latin typeface="Calibri"/>
              </a:rPr>
              <a:t>los 25 mensajes son las cadenas literales del MVP y del prototipo.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E6DA4"/>
                </a:solidFill>
                <a:latin typeface="Calibri"/>
              </a:rPr>
              <a:t>COMPORTAMIENTO</a:t>
            </a:r>
          </a:p>
          <a:p>
            <a:r>
              <a:rPr sz="3000" b="1" i="0">
                <a:solidFill>
                  <a:srgbClr val="1F3A5F"/>
                </a:solidFill>
                <a:latin typeface="Calibri"/>
              </a:rPr>
              <a:t>CU02 Registrar visita o interacción, en tablas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2011680" cy="381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555A60"/>
                </a:solidFill>
                <a:latin typeface="Calibri"/>
              </a:rPr>
              <a:t>Atlantic City · Capa de vista   |   Expositor 3 · Salomón   |  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8046720"/>
              </a:tblGrid>
              <a:tr h="52578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Elemento</a:t>
                      </a:r>
                    </a:p>
                  </a:txBody>
                  <a:tcPr marL="73152" marR="73152" marT="27432" marB="27432" anchor="t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Contenido</a:t>
                      </a:r>
                    </a:p>
                  </a:txBody>
                  <a:tcPr marL="73152" marR="73152" marT="27432" marB="27432" anchor="t">
                    <a:solidFill>
                      <a:srgbClr val="1F3A5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Precondición</a:t>
                      </a:r>
                    </a:p>
                  </a:txBody>
                  <a:tcPr marL="73152" marR="73152" marT="27432" marB="27432" anchor="t"/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El perfil del cliente existe en el registro local.</a:t>
                      </a:r>
                    </a:p>
                  </a:txBody>
                  <a:tcPr marL="73152" marR="73152" marT="27432" marB="27432" anchor="t"/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1. Selecciona el cliente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El sistema muestra perfil, criterios e historial reciente.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2. Indica tipo, fecha y nota</a:t>
                      </a:r>
                    </a:p>
                  </a:txBody>
                  <a:tcPr marL="73152" marR="73152" marT="27432" marB="27432" anchor="t"/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El sistema valida obligatorios y fecha.</a:t>
                      </a:r>
                    </a:p>
                  </a:txBody>
                  <a:tcPr marL="73152" marR="73152" marT="27432" marB="27432" anchor="t"/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3. ¿Reporta incidencia?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3.1 Sí: habilita y exige descripción. 3.2 No: continúa sin incidencia.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4. Confirma</a:t>
                      </a:r>
                    </a:p>
                  </a:txBody>
                  <a:tcPr marL="73152" marR="73152" marT="27432" marB="27432" anchor="t"/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El sistema conserva la atención con o sin incidencia y con o sin promoción.</a:t>
                      </a:r>
                    </a:p>
                  </a:txBody>
                  <a:tcPr marL="73152" marR="73152" marT="27432" marB="27432" anchor="t"/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Excepción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Incidencia sin descripción: mensaje MSJ02 y no guarda.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Postcondición</a:t>
                      </a:r>
                    </a:p>
                  </a:txBody>
                  <a:tcPr marL="73152" marR="73152" marT="27432" marB="27432" anchor="t"/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Atención en el historial, disponible para consulta.</a:t>
                      </a:r>
                    </a:p>
                  </a:txBody>
                  <a:tcPr marL="73152" marR="73152" marT="27432" marB="27432" anchor="t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2E6DA4"/>
                </a:solidFill>
                <a:latin typeface="Calibri"/>
              </a:rPr>
              <a:t>Regla que sostiene el caso: la visita se conserva aunque no exista incidencia ni promoción (RN01).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E6DA4"/>
                </a:solidFill>
                <a:latin typeface="Calibri"/>
              </a:rPr>
              <a:t>COMPORTAMIENTO</a:t>
            </a:r>
          </a:p>
          <a:p>
            <a:r>
              <a:rPr sz="3000" b="1" i="0">
                <a:solidFill>
                  <a:srgbClr val="1F3A5F"/>
                </a:solidFill>
                <a:latin typeface="Calibri"/>
              </a:rPr>
              <a:t>Secuencia de CU02: cuatro líneas de vida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2011680" cy="381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555A60"/>
                </a:solidFill>
                <a:latin typeface="Calibri"/>
              </a:rPr>
              <a:t>Atlantic City · Capa de vista   |   Expositor 3 · Salomón   |   11</a:t>
            </a:r>
          </a:p>
        </p:txBody>
      </p:sp>
      <p:pic>
        <p:nvPicPr>
          <p:cNvPr id="5" name="Picture 4" descr="Secuencia_registrar_vis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766560" cy="42896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55448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500" b="0" i="0">
                <a:solidFill>
                  <a:srgbClr val="202428"/>
                </a:solidFill>
                <a:latin typeface="Calibri"/>
              </a:rPr>
              <a:t>Lifelines: empleado autorizado, interfaz, sistema y datos (registro local).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500" b="0" i="0">
                <a:solidFill>
                  <a:srgbClr val="202428"/>
                </a:solidFill>
                <a:latin typeface="Calibri"/>
              </a:rPr>
              <a:t>El fragmento alt es el paso 3 de la tabla: incidencia sí o no.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500" b="0" i="0">
                <a:solidFill>
                  <a:srgbClr val="202428"/>
                </a:solidFill>
                <a:latin typeface="Calibri"/>
              </a:rPr>
              <a:t>Texto y diagrama dicen lo mismo: cada flecha es un paso del caso.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E6DA4"/>
                </a:solidFill>
                <a:latin typeface="Calibri"/>
              </a:rPr>
              <a:t>COMPORTAMIENTO</a:t>
            </a:r>
          </a:p>
          <a:p>
            <a:r>
              <a:rPr sz="3000" b="1" i="0">
                <a:solidFill>
                  <a:srgbClr val="1F3A5F"/>
                </a:solidFill>
                <a:latin typeface="Calibri"/>
              </a:rPr>
              <a:t>Secuencia de CU03: el alt que decide todo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2011680" cy="381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555A60"/>
                </a:solidFill>
                <a:latin typeface="Calibri"/>
              </a:rPr>
              <a:t>Atlantic City · Capa de vista   |   Expositor 3 · Salomón   |   12</a:t>
            </a:r>
          </a:p>
        </p:txBody>
      </p:sp>
      <p:pic>
        <p:nvPicPr>
          <p:cNvPr id="5" name="Picture 4" descr="Secuencia_evaluar_promo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766560" cy="59055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55448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500" b="0" i="0">
                <a:solidFill>
                  <a:srgbClr val="202428"/>
                </a:solidFill>
                <a:latin typeface="Calibri"/>
              </a:rPr>
              <a:t>Rama «Aplica»: crea constancia local; no se envía ningún mensaje.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500" b="0" i="0">
                <a:solidFill>
                  <a:srgbClr val="202428"/>
                </a:solidFill>
                <a:latin typeface="Calibri"/>
              </a:rPr>
              <a:t>Rama «No aplica»: no crea comunicación de ningún tipo.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500" b="0" i="0">
                <a:solidFill>
                  <a:srgbClr val="202428"/>
                </a:solidFill>
                <a:latin typeface="Calibri"/>
              </a:rPr>
              <a:t>La elegibilidad la decide una persona: el sistema no calcula segmentos.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E6DA4"/>
                </a:solidFill>
                <a:latin typeface="Calibri"/>
              </a:rPr>
              <a:t>COMPORTAMIENTO</a:t>
            </a:r>
          </a:p>
          <a:p>
            <a:r>
              <a:rPr sz="3000" b="1" i="0">
                <a:solidFill>
                  <a:srgbClr val="1F3A5F"/>
                </a:solidFill>
                <a:latin typeface="Calibri"/>
              </a:rPr>
              <a:t>Secuencia de CU01 y el patrón común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2011680" cy="381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555A60"/>
                </a:solidFill>
                <a:latin typeface="Calibri"/>
              </a:rPr>
              <a:t>Atlantic City · Capa de vista   |   Expositor 3 · Salomón   |   13</a:t>
            </a:r>
          </a:p>
        </p:txBody>
      </p:sp>
      <p:pic>
        <p:nvPicPr>
          <p:cNvPr id="5" name="Picture 4" descr="Secuencia_registrar_cli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766560" cy="52996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55448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500" b="0" i="0">
                <a:solidFill>
                  <a:srgbClr val="202428"/>
                </a:solidFill>
                <a:latin typeface="Calibri"/>
              </a:rPr>
              <a:t>Patrón de los tres casos: identificar → validar → guardar → confirmar.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500" b="0" i="0">
                <a:solidFill>
                  <a:srgbClr val="202428"/>
                </a:solidFill>
                <a:latin typeface="Calibri"/>
              </a:rPr>
              <a:t>Alt de CU01: perfil existente se carga; identificador nuevo se da de alta.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500" b="0" i="0">
                <a:solidFill>
                  <a:srgbClr val="202428"/>
                </a:solidFill>
                <a:latin typeface="Calibri"/>
              </a:rPr>
              <a:t>Un diagrama por caso: mezclarlos haría ilegible el comportamiento.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E6DA4"/>
                </a:solidFill>
                <a:latin typeface="Calibri"/>
              </a:rPr>
              <a:t>ESTRUCTURA</a:t>
            </a:r>
          </a:p>
          <a:p>
            <a:r>
              <a:rPr sz="3000" b="1" i="0">
                <a:solidFill>
                  <a:srgbClr val="1F3A5F"/>
                </a:solidFill>
                <a:latin typeface="Calibri"/>
              </a:rPr>
              <a:t>Diagrama de clases: los sustantivos del dominio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2011680" cy="381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555A60"/>
                </a:solidFill>
                <a:latin typeface="Calibri"/>
              </a:rPr>
              <a:t>Atlantic City · Capa de vista   |   Expositor 4 · Daniel   |   14</a:t>
            </a:r>
          </a:p>
        </p:txBody>
      </p:sp>
      <p:pic>
        <p:nvPicPr>
          <p:cNvPr id="5" name="Picture 4" descr="Cl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949440" cy="50082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5544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450" b="0" i="0">
                <a:solidFill>
                  <a:srgbClr val="202428"/>
                </a:solidFill>
                <a:latin typeface="Calibri"/>
              </a:rPr>
              <a:t>Seis clases salidas de los sustantivos del dominio y del código real.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450" b="0" i="0">
                <a:solidFill>
                  <a:srgbClr val="202428"/>
                </a:solidFill>
                <a:latin typeface="Calibri"/>
              </a:rPr>
              <a:t>Multiplicidades: un cliente registra 0..* visitas; la promoción se evalúa 0..* veces.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450" b="0" i="0">
                <a:solidFill>
                  <a:srgbClr val="202428"/>
                </a:solidFill>
                <a:latin typeface="Calibri"/>
              </a:rPr>
              <a:t>En StarUML añadiremos visibilidad y operaciones que el código ejecuta.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E6DA4"/>
                </a:solidFill>
                <a:latin typeface="Calibri"/>
              </a:rPr>
              <a:t>ESTRUCTURA</a:t>
            </a:r>
          </a:p>
          <a:p>
            <a:r>
              <a:rPr sz="3000" b="1" i="0">
                <a:solidFill>
                  <a:srgbClr val="1F3A5F"/>
                </a:solidFill>
                <a:latin typeface="Calibri"/>
              </a:rPr>
              <a:t>Modelo y código dicen lo mismo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2011680" cy="381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555A60"/>
                </a:solidFill>
                <a:latin typeface="Calibri"/>
              </a:rPr>
              <a:t>Atlantic City · Capa de vista   |   Expositor 4 · Daniel   | 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800" b="1" i="0">
                <a:solidFill>
                  <a:srgbClr val="202428"/>
                </a:solidFill>
                <a:latin typeface="Calibri"/>
              </a:rPr>
              <a:t>25 mensajes MSJ: </a:t>
            </a:r>
            <a:r>
              <a:rPr sz="1800" b="0" i="0">
                <a:solidFill>
                  <a:srgbClr val="202428"/>
                </a:solidFill>
                <a:latin typeface="Calibri"/>
              </a:rPr>
              <a:t>cadenas literales del MVP y del prototipo; la especificación es comprobable.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800" b="1" i="0">
                <a:solidFill>
                  <a:srgbClr val="202428"/>
                </a:solidFill>
                <a:latin typeface="Calibri"/>
              </a:rPr>
              <a:t>Datos de demostración: </a:t>
            </a:r>
            <a:r>
              <a:rPr sz="1800" b="0" i="0">
                <a:solidFill>
                  <a:srgbClr val="202428"/>
                </a:solidFill>
                <a:latin typeface="Calibri"/>
              </a:rPr>
              <a:t>guardados en el navegador; sin integración real ni envío externo.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800" b="1" i="0">
                <a:solidFill>
                  <a:srgbClr val="202428"/>
                </a:solidFill>
                <a:latin typeface="Calibri"/>
              </a:rPr>
              <a:t>Evidencia ejecutable: </a:t>
            </a:r>
            <a:r>
              <a:rPr sz="1800" b="0" i="0">
                <a:solidFill>
                  <a:srgbClr val="202428"/>
                </a:solidFill>
                <a:latin typeface="Calibri"/>
              </a:rPr>
              <a:t>MVP en una pantalla y prototipo de siete vistas, ambos revisables en vivo.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6DA4"/>
                </a:solidFill>
                <a:latin typeface="Calibri"/>
              </a:rPr>
              <a:t>• </a:t>
            </a:r>
            <a:r>
              <a:rPr sz="1800" b="1" i="0">
                <a:solidFill>
                  <a:srgbClr val="202428"/>
                </a:solidFill>
                <a:latin typeface="Calibri"/>
              </a:rPr>
              <a:t>Nada inventado: </a:t>
            </a:r>
            <a:r>
              <a:rPr sz="1800" b="0" i="0">
                <a:solidFill>
                  <a:srgbClr val="202428"/>
                </a:solidFill>
                <a:latin typeface="Calibri"/>
              </a:rPr>
              <a:t>lo no confirmado por el PO queda como pendiente, no como dibujo.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55A60"/>
                </a:solidFill>
                <a:latin typeface="Calibri"/>
              </a:rPr>
              <a:t>Comprobación del equipo: si un mensaje del documento no aparece al provocarlo en el navegador, el documento o el código estaban desactualizados.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E6DA4"/>
                </a:solidFill>
                <a:latin typeface="Calibri"/>
              </a:rPr>
              <a:t>CIERRE</a:t>
            </a:r>
          </a:p>
          <a:p>
            <a:r>
              <a:rPr sz="3000" b="1" i="0">
                <a:solidFill>
                  <a:srgbClr val="1F3A5F"/>
                </a:solidFill>
                <a:latin typeface="Calibri"/>
              </a:rPr>
              <a:t>Estado del avance y siguientes pasos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2011680" cy="381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555A60"/>
                </a:solidFill>
                <a:latin typeface="Calibri"/>
              </a:rPr>
              <a:t>Atlantic City · Capa de vista   |   Expositor 4 · Daniel   |   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50292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Frente</a:t>
                      </a:r>
                    </a:p>
                  </a:txBody>
                  <a:tcPr marL="73152" marR="73152" marT="27432" marB="27432" anchor="t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73152" marR="73152" marT="27432" marB="27432" anchor="t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Informe con los 15 puntos de la estructura</a:t>
                      </a:r>
                    </a:p>
                  </a:txBody>
                  <a:tcPr marL="73152" marR="73152" marT="27432" marB="27432" anchor="t"/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Completo, con casos de uso en la plantilla del curso</a:t>
                      </a:r>
                    </a:p>
                  </a:txBody>
                  <a:tcPr marL="73152" marR="73152" marT="27432" marB="27432" anchor="t"/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BPMN, UML y especificación de casos de uso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Completos y verificados contra el código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MVP y prototipo con navegación</a:t>
                      </a:r>
                    </a:p>
                  </a:txBody>
                  <a:tcPr marL="73152" marR="73152" marT="27432" marB="27432" anchor="t"/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Ejecutables y probados</a:t>
                      </a:r>
                    </a:p>
                  </a:txBody>
                  <a:tcPr marL="73152" marR="73152" marT="27432" marB="27432" anchor="t"/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Modelo StarUML (.mdj) y exportación Bizagi (.bpmn)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En curso esta semana</a:t>
                      </a:r>
                    </a:p>
                  </a:txBody>
                  <a:tcPr marL="73152" marR="73152" marT="27432" marB="27432" anchor="t">
                    <a:solidFill>
                      <a:srgbClr val="EAEF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Periodos e indicadores del reporte, HU-13</a:t>
                      </a:r>
                    </a:p>
                  </a:txBody>
                  <a:tcPr marL="73152" marR="73152" marT="27432" marB="27432" anchor="t"/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02428"/>
                          </a:solidFill>
                          <a:latin typeface="Calibri"/>
                        </a:rPr>
                        <a:t>Pendientes de priorización del Product Owner</a:t>
                      </a:r>
                    </a:p>
                  </a:txBody>
                  <a:tcPr marL="73152" marR="73152" marT="27432" marB="27432" anchor="t"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E6DA4"/>
                </a:solidFill>
                <a:latin typeface="Calibri"/>
              </a:rPr>
              <a:t>CIERRE</a:t>
            </a:r>
          </a:p>
          <a:p>
            <a:r>
              <a:rPr sz="3000" b="1" i="0">
                <a:solidFill>
                  <a:srgbClr val="1F3A5F"/>
                </a:solidFill>
                <a:latin typeface="Calibri"/>
              </a:rPr>
              <a:t>Idea final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2011680" cy="381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555A60"/>
                </a:solidFill>
                <a:latin typeface="Calibri"/>
              </a:rPr>
              <a:t>Atlantic City · Capa de vista   |   Expositor 4 · Daniel   |  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3A5F"/>
                </a:solidFill>
                <a:latin typeface="Calibri"/>
              </a:rPr>
              <a:t>De información dispersa a un historial unificado con reglas verificables.</a:t>
            </a:r>
          </a:p>
          <a:p>
            <a:pPr>
              <a:spcBef>
                <a:spcPts val="1400"/>
              </a:spcBef>
            </a:pPr>
            <a:r>
              <a:rPr sz="1800" b="0" i="0">
                <a:solidFill>
                  <a:srgbClr val="202428"/>
                </a:solidFill>
                <a:latin typeface="Calibri"/>
              </a:rPr>
              <a:t>Cada diagrama tiene un documento detrás y cada documento, un código que lo respalda.</a:t>
            </a:r>
          </a:p>
          <a:p>
            <a:pPr>
              <a:spcBef>
                <a:spcPts val="2200"/>
              </a:spcBef>
            </a:pPr>
            <a:r>
              <a:rPr sz="2000" b="1" i="0">
                <a:solidFill>
                  <a:srgbClr val="2E6DA4"/>
                </a:solidFill>
                <a:latin typeface="Calibri"/>
              </a:rPr>
              <a:t>Gracias.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